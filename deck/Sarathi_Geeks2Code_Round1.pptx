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Sarathi means guide. Wayzyy cannot afford to buy demand — 2.57% of booking value goes to marketing at Airbnb, and Wayzyy's entire revenue is 2.0%. So the only growth it can afford is keeping the guests it already has, and that is won during the 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team that shipped TravelBuddy, our earlier travel-planning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in-trip window is four days of dead air where the platform is invisible. That is exactly when a guest decides who they book with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link live. Wait three seconds on the Today tab — the notification banner fires on its own and the plan has already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Airbnb spends 2.57% of gross booking value on marketing alone. Wayzyy's entire gross revenue is 2.0% of booking value — so it cannot buy demand, only keep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repeat booking Sarathi earns burns down the host's prepaid credit quota — which is what triggers the next recharge.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what is not built is a feasibility signal. WhatsApp delivery is designed, not shipped —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today: the agent layer, the tools, the KB and the scheduler. WhatsApp delivery is wired in design only — be explicit about that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technical panel will interrogate. The ranking formula is real and returned to the model so it can explain why something surfaced.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knowledge base is the only geography-specific layer. Everything else is city-agnostic.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verified run. The agent chose to check the weather on its own — nothing in the guest message mentioned 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chatbot waits. This wakes on a schedule, decides there is something worth saying, acts on it, and only then writes. That is the whole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149840" y="274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wayzyy</a:t>
            </a:r>
            <a:pPr algn="r" indent="0" marL="0">
              <a:buNone/>
            </a:pPr>
            <a:r>
              <a:rPr lang="en-US" sz="1900" b="1" dirty="0">
                <a:solidFill>
                  <a:srgbClr val="FBC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621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60" kern="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TRACK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6596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Sarathi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1012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6E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stay doesn't end at check-in.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95528" y="4041648"/>
            <a:ext cx="3246120" cy="384048"/>
          </a:xfrm>
          <a:prstGeom prst="roundRect">
            <a:avLst>
              <a:gd name="adj" fmla="val 14286"/>
            </a:avLst>
          </a:prstGeom>
          <a:solidFill>
            <a:srgbClr val="FBC638"/>
          </a:solidFill>
          <a:ln w="12700">
            <a:solidFill>
              <a:srgbClr val="FBC6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041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In-trip AI concierge for Wayzyy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54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404  ·  Geeks2Code 2026  ·  Wayzyy Problem Statement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75320" y="868680"/>
            <a:ext cx="2487168" cy="5048951"/>
          </a:xfrm>
          <a:prstGeom prst="roundRect">
            <a:avLst>
              <a:gd name="adj" fmla="val 5147"/>
            </a:avLst>
          </a:prstGeom>
          <a:solidFill>
            <a:srgbClr val="12121A"/>
          </a:solidFill>
          <a:ln w="12700">
            <a:solidFill>
              <a:srgbClr val="12121A"/>
            </a:solidFill>
            <a:prstDash val="solid"/>
          </a:ln>
          <a:effectLst>
            <a:outerShdw sx="100000" sy="100000" kx="0" ky="0" algn="bl" rotWithShape="0" blurRad="254000" dist="63500" dir="5400000">
              <a:srgbClr val="1A1A2E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62371" y="955731"/>
            <a:ext cx="2313066" cy="4874849"/>
          </a:xfrm>
          <a:prstGeom prst="roundRect">
            <a:avLst>
              <a:gd name="adj" fmla="val 4349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70700" y="964436"/>
            <a:ext cx="696407" cy="100584"/>
          </a:xfrm>
          <a:prstGeom prst="roundRect">
            <a:avLst>
              <a:gd name="adj" fmla="val 45455"/>
            </a:avLst>
          </a:prstGeom>
          <a:solidFill>
            <a:srgbClr val="12121A"/>
          </a:solidFill>
          <a:ln w="12700">
            <a:solidFill>
              <a:srgbClr val="1212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24286" y="1193475"/>
            <a:ext cx="19892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morning,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524286" y="1412931"/>
            <a:ext cx="19892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Priyanshu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202626" y="1193475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BC638"/>
          </a:solidFill>
          <a:ln w="12700">
            <a:solidFill>
              <a:srgbClr val="FBC6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02626" y="11934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24286" y="1742115"/>
            <a:ext cx="1989237" cy="566928"/>
          </a:xfrm>
          <a:prstGeom prst="roundRect">
            <a:avLst>
              <a:gd name="adj" fmla="val 16129"/>
            </a:avLst>
          </a:prstGeom>
          <a:solidFill>
            <a:srgbClr val="FEF6DE"/>
          </a:solidFill>
          <a:ln w="12700">
            <a:solidFill>
              <a:srgbClr val="FEF6DE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15726" y="1833555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BC638"/>
          </a:solidFill>
          <a:ln w="12700">
            <a:solidFill>
              <a:srgbClr val="FBC6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15726" y="18335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54638" y="1851843"/>
            <a:ext cx="134915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rain · 84mm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054638" y="2034723"/>
            <a:ext cx="134915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orange alert · North Goa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524286" y="2418771"/>
            <a:ext cx="19892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24286" y="2656515"/>
            <a:ext cx="1989237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15726" y="276624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4C7BE"/>
          </a:solidFill>
          <a:ln w="12700">
            <a:solidFill>
              <a:srgbClr val="F4C7B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15726" y="27662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091214" y="2784531"/>
            <a:ext cx="13034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60" kern="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— 17:00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9091214" y="2939979"/>
            <a:ext cx="12577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Fontainhas Quarter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091214" y="3141147"/>
            <a:ext cx="13034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Panjim · 15 km · free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8524286" y="3442899"/>
            <a:ext cx="19892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you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24286" y="3680643"/>
            <a:ext cx="939754" cy="1042416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24286" y="3680643"/>
            <a:ext cx="939754" cy="457200"/>
          </a:xfrm>
          <a:prstGeom prst="roundRect">
            <a:avLst>
              <a:gd name="adj" fmla="val 20000"/>
            </a:avLst>
          </a:prstGeom>
          <a:solidFill>
            <a:srgbClr val="B8B5E8"/>
          </a:solidFill>
          <a:ln w="12700">
            <a:solidFill>
              <a:srgbClr val="B8B5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24286" y="3753795"/>
            <a:ext cx="9397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597438" y="4192707"/>
            <a:ext cx="793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Museum of Goa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597438" y="4485315"/>
            <a:ext cx="7934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km · ₹200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573768" y="3680643"/>
            <a:ext cx="939754" cy="1042416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573768" y="3680643"/>
            <a:ext cx="939754" cy="457200"/>
          </a:xfrm>
          <a:prstGeom prst="roundRect">
            <a:avLst>
              <a:gd name="adj" fmla="val 20000"/>
            </a:avLst>
          </a:prstGeom>
          <a:solidFill>
            <a:srgbClr val="F4A79D"/>
          </a:solidFill>
          <a:ln w="12700">
            <a:solidFill>
              <a:srgbClr val="F4A79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573768" y="3753795"/>
            <a:ext cx="9397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646920" y="4192707"/>
            <a:ext cx="793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Fontainhas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9646920" y="4485315"/>
            <a:ext cx="7934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km · Free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362371" y="5440914"/>
            <a:ext cx="2313066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01155" y="5514066"/>
            <a:ext cx="310896" cy="237744"/>
          </a:xfrm>
          <a:prstGeom prst="roundRect">
            <a:avLst>
              <a:gd name="adj" fmla="val 26923"/>
            </a:avLst>
          </a:prstGeom>
          <a:solidFill>
            <a:srgbClr val="FBC638"/>
          </a:solidFill>
          <a:ln w="12700">
            <a:solidFill>
              <a:srgbClr val="FBC63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01155" y="553235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428003" y="576095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600" dirty="0"/>
          </a:p>
        </p:txBody>
      </p:sp>
      <p:sp>
        <p:nvSpPr>
          <p:cNvPr id="43" name="Text 41"/>
          <p:cNvSpPr txBox="1"/>
          <p:nvPr/>
        </p:nvSpPr>
        <p:spPr>
          <a:xfrm>
            <a:off x="9010029" y="553235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936877" y="576095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600" dirty="0"/>
          </a:p>
        </p:txBody>
      </p:sp>
      <p:sp>
        <p:nvSpPr>
          <p:cNvPr id="45" name="Text 43"/>
          <p:cNvSpPr txBox="1"/>
          <p:nvPr/>
        </p:nvSpPr>
        <p:spPr>
          <a:xfrm>
            <a:off x="9518904" y="553235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9445752" y="576095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Sarathi</a:t>
            </a:r>
            <a:endParaRPr lang="en-US" sz="600" dirty="0"/>
          </a:p>
        </p:txBody>
      </p:sp>
      <p:sp>
        <p:nvSpPr>
          <p:cNvPr id="47" name="Text 45"/>
          <p:cNvSpPr txBox="1"/>
          <p:nvPr/>
        </p:nvSpPr>
        <p:spPr>
          <a:xfrm>
            <a:off x="10027779" y="553235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🏡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954627" y="576095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404 (Not found )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098652" y="2514600"/>
            <a:ext cx="1691640" cy="1691640"/>
          </a:xfrm>
          <a:prstGeom prst="ellipse">
            <a:avLst/>
          </a:prstGeom>
          <a:solidFill>
            <a:srgbClr val="F0F1F6"/>
          </a:solidFill>
          <a:ln w="31750">
            <a:solidFill>
              <a:srgbClr val="1212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8652" y="251460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915772" y="43708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Parsh Jain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174340" y="2514600"/>
            <a:ext cx="1691640" cy="1691640"/>
          </a:xfrm>
          <a:prstGeom prst="ellipse">
            <a:avLst/>
          </a:prstGeom>
          <a:solidFill>
            <a:srgbClr val="F0F1F6"/>
          </a:solidFill>
          <a:ln w="31750">
            <a:solidFill>
              <a:srgbClr val="1212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74340" y="251460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2991460" y="43708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Daksh Singh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50028" y="2514600"/>
            <a:ext cx="1691640" cy="1691640"/>
          </a:xfrm>
          <a:prstGeom prst="ellipse">
            <a:avLst/>
          </a:prstGeom>
          <a:solidFill>
            <a:srgbClr val="F0F1F6"/>
          </a:solidFill>
          <a:ln w="31750">
            <a:solidFill>
              <a:srgbClr val="1212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50028" y="251460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5067148" y="43708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Priyanshu Pandey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25716" y="2514600"/>
            <a:ext cx="1691640" cy="1691640"/>
          </a:xfrm>
          <a:prstGeom prst="ellipse">
            <a:avLst/>
          </a:prstGeom>
          <a:solidFill>
            <a:srgbClr val="F0F1F6"/>
          </a:solidFill>
          <a:ln w="31750">
            <a:solidFill>
              <a:srgbClr val="1212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25716" y="251460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7142836" y="43708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Anshul Kumar Singh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401404" y="2514600"/>
            <a:ext cx="1691640" cy="1691640"/>
          </a:xfrm>
          <a:prstGeom prst="ellipse">
            <a:avLst/>
          </a:prstGeom>
          <a:solidFill>
            <a:srgbClr val="F0F1F6"/>
          </a:solidFill>
          <a:ln w="31750">
            <a:solidFill>
              <a:srgbClr val="1212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01404" y="251460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9218524" y="43708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Anuraag Tandon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6692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MIET, Meerut  ·  inter-specialisation team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305" cy="6858000"/>
          </a:xfrm>
          <a:prstGeom prst="rect">
            <a:avLst/>
          </a:prstGeom>
          <a:solidFill>
            <a:srgbClr val="12121A"/>
          </a:solidFill>
          <a:ln w="12700">
            <a:solidFill>
              <a:srgbClr val="1212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40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Checkout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85800" y="3703320"/>
            <a:ext cx="2148840" cy="475488"/>
          </a:xfrm>
          <a:prstGeom prst="roundRect">
            <a:avLst>
              <a:gd name="adj" fmla="val 19231"/>
            </a:avLst>
          </a:prstGeom>
          <a:solidFill>
            <a:srgbClr val="262634"/>
          </a:solidFill>
          <a:ln w="12700">
            <a:solidFill>
              <a:srgbClr val="2626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7033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Guests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4343400"/>
            <a:ext cx="2880360" cy="475488"/>
          </a:xfrm>
          <a:prstGeom prst="roundRect">
            <a:avLst>
              <a:gd name="adj" fmla="val 19231"/>
            </a:avLst>
          </a:prstGeom>
          <a:solidFill>
            <a:srgbClr val="262634"/>
          </a:solidFill>
          <a:ln w="12700">
            <a:solidFill>
              <a:srgbClr val="2626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34340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Reason to Return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13892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B9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“Booking platforms end their relationship with the guest at checkout — there's no continuity into the actual trip, which is where loyalty and upsell opportunity live.”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640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E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188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Sarathi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6812280" y="2286000"/>
            <a:ext cx="1965960" cy="3990899"/>
          </a:xfrm>
          <a:prstGeom prst="roundRect">
            <a:avLst>
              <a:gd name="adj" fmla="val 6512"/>
            </a:avLst>
          </a:prstGeom>
          <a:solidFill>
            <a:srgbClr val="12121A"/>
          </a:solidFill>
          <a:ln w="12700">
            <a:solidFill>
              <a:srgbClr val="12121A"/>
            </a:solidFill>
            <a:prstDash val="solid"/>
          </a:ln>
          <a:effectLst>
            <a:outerShdw sx="100000" sy="100000" kx="0" ky="0" algn="bl" rotWithShape="0" blurRad="254000" dist="63500" dir="5400000">
              <a:srgbClr val="1A1A2E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81089" y="2354809"/>
            <a:ext cx="1828343" cy="3853282"/>
          </a:xfrm>
          <a:prstGeom prst="roundRect">
            <a:avLst>
              <a:gd name="adj" fmla="val 5501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20026" y="2361689"/>
            <a:ext cx="550469" cy="100584"/>
          </a:xfrm>
          <a:prstGeom prst="roundRect">
            <a:avLst>
              <a:gd name="adj" fmla="val 45455"/>
            </a:avLst>
          </a:prstGeom>
          <a:solidFill>
            <a:srgbClr val="12121A"/>
          </a:solidFill>
          <a:ln w="12700">
            <a:solidFill>
              <a:srgbClr val="1212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09073" y="2592553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BC638"/>
          </a:solidFill>
          <a:ln w="12700">
            <a:solidFill>
              <a:srgbClr val="FBC6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09073" y="25925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11409" y="2610841"/>
            <a:ext cx="15723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Sarathi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411409" y="2793721"/>
            <a:ext cx="157237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DA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009073" y="3049753"/>
            <a:ext cx="138369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100513" y="3122905"/>
            <a:ext cx="12008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Priyanshu — I'm Sarathi. I'll be here through your stay at Casa Amarela.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7009073" y="3598393"/>
            <a:ext cx="157237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6:40 am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009073" y="3781273"/>
            <a:ext cx="138369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100513" y="3854425"/>
            <a:ext cx="120081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— heavy rain warning for North Goa. Dudhsagar's trail closes in this weather, so I've moved it to Thursday and put Fontainhas in today instead.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09073" y="4896841"/>
            <a:ext cx="138369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100513" y="4969993"/>
            <a:ext cx="12008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also told Rohan you'll keep the scooter a day longer.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56458" y="5463769"/>
            <a:ext cx="1100662" cy="274320"/>
          </a:xfrm>
          <a:prstGeom prst="roundRect">
            <a:avLst>
              <a:gd name="adj" fmla="val 30000"/>
            </a:avLst>
          </a:prstGeom>
          <a:solidFill>
            <a:srgbClr val="FBC638"/>
          </a:solidFill>
          <a:ln w="12700">
            <a:solidFill>
              <a:srgbClr val="FBC638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2E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447898" y="5536921"/>
            <a:ext cx="9177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perfect, thanks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81089" y="5938406"/>
            <a:ext cx="1828343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90789" y="602984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917637" y="625844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600" dirty="0"/>
          </a:p>
        </p:txBody>
      </p:sp>
      <p:sp>
        <p:nvSpPr>
          <p:cNvPr id="31" name="Text 29"/>
          <p:cNvSpPr txBox="1"/>
          <p:nvPr/>
        </p:nvSpPr>
        <p:spPr>
          <a:xfrm>
            <a:off x="7393025" y="602984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19873" y="625844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7795260" y="6011558"/>
            <a:ext cx="310896" cy="237744"/>
          </a:xfrm>
          <a:prstGeom prst="roundRect">
            <a:avLst>
              <a:gd name="adj" fmla="val 26923"/>
            </a:avLst>
          </a:prstGeom>
          <a:solidFill>
            <a:srgbClr val="FBC638"/>
          </a:solidFill>
          <a:ln w="12700">
            <a:solidFill>
              <a:srgbClr val="FBC6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95260" y="602984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722108" y="625844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Sarathi</a:t>
            </a:r>
            <a:endParaRPr lang="en-US" sz="600" dirty="0"/>
          </a:p>
        </p:txBody>
      </p:sp>
      <p:sp>
        <p:nvSpPr>
          <p:cNvPr id="36" name="Text 34"/>
          <p:cNvSpPr txBox="1"/>
          <p:nvPr/>
        </p:nvSpPr>
        <p:spPr>
          <a:xfrm>
            <a:off x="8197495" y="602984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🏡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124343" y="625844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9098280" y="2743200"/>
            <a:ext cx="27432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928116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Before You Ask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098280" y="37947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28116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— Never Invented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305" y="0"/>
            <a:ext cx="6096305" cy="6858000"/>
          </a:xfrm>
          <a:prstGeom prst="rect">
            <a:avLst/>
          </a:prstGeom>
          <a:solidFill>
            <a:srgbClr val="EDEAF8"/>
          </a:solidFill>
          <a:ln w="12700">
            <a:solidFill>
              <a:srgbClr val="EDEA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777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5400" dirty="0"/>
          </a:p>
        </p:txBody>
      </p:sp>
      <p:pic>
        <p:nvPicPr>
          <p:cNvPr id="4" name="Image 0" descr="/private/tmp/claude-501/-Users-raymac-Downloads-gfg/17b07430-53a1-44b3-bf1a-c63e8b216a5d/scratchpad/shots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20040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440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open the working app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7424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tool-calling agent — 7 tools, a 14-place Goa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base, and a scheduler that messages first.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18120" y="685800"/>
            <a:ext cx="2633472" cy="5345948"/>
          </a:xfrm>
          <a:prstGeom prst="roundRect">
            <a:avLst>
              <a:gd name="adj" fmla="val 4861"/>
            </a:avLst>
          </a:prstGeom>
          <a:solidFill>
            <a:srgbClr val="12121A"/>
          </a:solidFill>
          <a:ln w="12700">
            <a:solidFill>
              <a:srgbClr val="12121A"/>
            </a:solidFill>
            <a:prstDash val="solid"/>
          </a:ln>
          <a:effectLst>
            <a:outerShdw sx="100000" sy="100000" kx="0" ky="0" algn="bl" rotWithShape="0" blurRad="254000" dist="63500" dir="5400000">
              <a:srgbClr val="1A1A2E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10292" y="777972"/>
            <a:ext cx="2449129" cy="5161605"/>
          </a:xfrm>
          <a:prstGeom prst="roundRect">
            <a:avLst>
              <a:gd name="adj" fmla="val 4107"/>
            </a:avLst>
          </a:prstGeom>
          <a:solidFill>
            <a:srgbClr val="F4F5F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6170" y="787189"/>
            <a:ext cx="737372" cy="100584"/>
          </a:xfrm>
          <a:prstGeom prst="roundRect">
            <a:avLst>
              <a:gd name="adj" fmla="val 45455"/>
            </a:avLst>
          </a:prstGeom>
          <a:solidFill>
            <a:srgbClr val="12121A"/>
          </a:solidFill>
          <a:ln w="12700">
            <a:solidFill>
              <a:srgbClr val="1212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81731" y="1015716"/>
            <a:ext cx="21062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morning,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81731" y="1235172"/>
            <a:ext cx="21062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6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Priyanshu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877085" y="1015716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FBC638"/>
          </a:solidFill>
          <a:ln w="12700">
            <a:solidFill>
              <a:srgbClr val="FBC63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877085" y="10157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81731" y="1564356"/>
            <a:ext cx="2106251" cy="566928"/>
          </a:xfrm>
          <a:prstGeom prst="roundRect">
            <a:avLst>
              <a:gd name="adj" fmla="val 16129"/>
            </a:avLst>
          </a:prstGeom>
          <a:solidFill>
            <a:srgbClr val="FEF6DE"/>
          </a:solidFill>
          <a:ln w="12700">
            <a:solidFill>
              <a:srgbClr val="FEF6DE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73171" y="1655796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BC638"/>
          </a:solidFill>
          <a:ln w="12700">
            <a:solidFill>
              <a:srgbClr val="FBC63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73171" y="1655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612083" y="1674084"/>
            <a:ext cx="1466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rain · 84mm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612083" y="1856964"/>
            <a:ext cx="1466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orange alert · North Goa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8081731" y="2241012"/>
            <a:ext cx="21062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81731" y="2478756"/>
            <a:ext cx="2106251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173171" y="258848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4C7BE"/>
          </a:solidFill>
          <a:ln w="12700">
            <a:solidFill>
              <a:srgbClr val="F4C7B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73171" y="25884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648659" y="2606772"/>
            <a:ext cx="142045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60" kern="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— 17:00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8648659" y="2762220"/>
            <a:ext cx="13747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Fontainhas Quarter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648659" y="2963388"/>
            <a:ext cx="14204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Panjim · 15 km · free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8081731" y="3265140"/>
            <a:ext cx="21062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you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081731" y="3502884"/>
            <a:ext cx="998261" cy="1042416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081731" y="3502884"/>
            <a:ext cx="998261" cy="457200"/>
          </a:xfrm>
          <a:prstGeom prst="roundRect">
            <a:avLst>
              <a:gd name="adj" fmla="val 20000"/>
            </a:avLst>
          </a:prstGeom>
          <a:solidFill>
            <a:srgbClr val="B8B5E8"/>
          </a:solidFill>
          <a:ln w="12700">
            <a:solidFill>
              <a:srgbClr val="B8B5E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81731" y="3576036"/>
            <a:ext cx="99826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154883" y="4014948"/>
            <a:ext cx="8519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Museum of Goa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8154883" y="4307556"/>
            <a:ext cx="8519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km · ₹200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189720" y="3502884"/>
            <a:ext cx="998261" cy="1042416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189720" y="3502884"/>
            <a:ext cx="998261" cy="457200"/>
          </a:xfrm>
          <a:prstGeom prst="roundRect">
            <a:avLst>
              <a:gd name="adj" fmla="val 20000"/>
            </a:avLst>
          </a:prstGeom>
          <a:solidFill>
            <a:srgbClr val="F4A79D"/>
          </a:solidFill>
          <a:ln w="12700">
            <a:solidFill>
              <a:srgbClr val="F4A79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189720" y="3576036"/>
            <a:ext cx="99826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9262872" y="4014948"/>
            <a:ext cx="8519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Fontainhas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9262872" y="4307556"/>
            <a:ext cx="8519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km · Free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7910292" y="5516231"/>
            <a:ext cx="2449129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57239" y="5589383"/>
            <a:ext cx="310896" cy="237744"/>
          </a:xfrm>
          <a:prstGeom prst="roundRect">
            <a:avLst>
              <a:gd name="adj" fmla="val 26923"/>
            </a:avLst>
          </a:prstGeom>
          <a:solidFill>
            <a:srgbClr val="FBC638"/>
          </a:solidFill>
          <a:ln w="12700">
            <a:solidFill>
              <a:srgbClr val="FBC63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057239" y="5607671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984087" y="5836271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600" dirty="0"/>
          </a:p>
        </p:txBody>
      </p:sp>
      <p:sp>
        <p:nvSpPr>
          <p:cNvPr id="41" name="Text 38"/>
          <p:cNvSpPr txBox="1"/>
          <p:nvPr/>
        </p:nvSpPr>
        <p:spPr>
          <a:xfrm>
            <a:off x="8596048" y="5607671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522896" y="5836271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600" dirty="0"/>
          </a:p>
        </p:txBody>
      </p:sp>
      <p:sp>
        <p:nvSpPr>
          <p:cNvPr id="43" name="Text 40"/>
          <p:cNvSpPr txBox="1"/>
          <p:nvPr/>
        </p:nvSpPr>
        <p:spPr>
          <a:xfrm>
            <a:off x="9134856" y="5607671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9061704" y="5836271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Sarathi</a:t>
            </a:r>
            <a:endParaRPr lang="en-US" sz="600" dirty="0"/>
          </a:p>
        </p:txBody>
      </p:sp>
      <p:sp>
        <p:nvSpPr>
          <p:cNvPr id="45" name="Text 42"/>
          <p:cNvSpPr txBox="1"/>
          <p:nvPr/>
        </p:nvSpPr>
        <p:spPr>
          <a:xfrm>
            <a:off x="9673664" y="5607671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🏡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600512" y="5836271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149840" y="274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wayzyy</a:t>
            </a:r>
            <a:pPr algn="r" indent="0" marL="0">
              <a:buNone/>
            </a:pPr>
            <a:r>
              <a:rPr lang="en-US" sz="1900" b="1" dirty="0">
                <a:solidFill>
                  <a:srgbClr val="FBC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621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60" kern="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TRACK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for Wayzyy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472788" y="2080260"/>
            <a:ext cx="3246120" cy="3246120"/>
          </a:xfrm>
          <a:prstGeom prst="ellipse">
            <a:avLst/>
          </a:prstGeom>
          <a:ln w="12700">
            <a:solidFill>
              <a:srgbClr val="DAD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47108" y="2354580"/>
            <a:ext cx="2697480" cy="2697480"/>
          </a:xfrm>
          <a:prstGeom prst="ellipse">
            <a:avLst/>
          </a:prstGeom>
          <a:ln w="12700">
            <a:solidFill>
              <a:srgbClr val="DAD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1428" y="2628900"/>
            <a:ext cx="2148840" cy="2148840"/>
          </a:xfrm>
          <a:prstGeom prst="ellipse">
            <a:avLst/>
          </a:prstGeom>
          <a:ln w="12700">
            <a:solidFill>
              <a:srgbClr val="DAD5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54600" y="2862072"/>
            <a:ext cx="1682496" cy="1682496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212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54600" y="2862072"/>
            <a:ext cx="16824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Wayzyy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13632" y="2743200"/>
            <a:ext cx="1412748" cy="620878"/>
          </a:xfrm>
          <a:prstGeom prst="line">
            <a:avLst/>
          </a:prstGeom>
          <a:noFill/>
          <a:ln w="31750">
            <a:solidFill>
              <a:srgbClr val="FBC6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6866230" y="2743200"/>
            <a:ext cx="1409090" cy="620878"/>
          </a:xfrm>
          <a:prstGeom prst="line">
            <a:avLst/>
          </a:prstGeom>
          <a:noFill/>
          <a:ln w="31750">
            <a:solidFill>
              <a:srgbClr val="FBC6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913632" y="4042562"/>
            <a:ext cx="1412748" cy="620878"/>
          </a:xfrm>
          <a:prstGeom prst="line">
            <a:avLst/>
          </a:prstGeom>
          <a:noFill/>
          <a:ln w="31750">
            <a:solidFill>
              <a:srgbClr val="FBC6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 flipV="1">
            <a:off x="6866230" y="4042562"/>
            <a:ext cx="1409090" cy="620878"/>
          </a:xfrm>
          <a:prstGeom prst="line">
            <a:avLst/>
          </a:prstGeom>
          <a:noFill/>
          <a:ln w="31750">
            <a:solidFill>
              <a:srgbClr val="FBC6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691640"/>
            <a:ext cx="327355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472184" y="2016252"/>
            <a:ext cx="1474470" cy="137160"/>
          </a:xfrm>
          <a:prstGeom prst="roundRect">
            <a:avLst>
              <a:gd name="adj" fmla="val 26667"/>
            </a:avLst>
          </a:prstGeom>
          <a:solidFill>
            <a:srgbClr val="FCEEA7"/>
          </a:solidFill>
          <a:ln w="12700">
            <a:solidFill>
              <a:srgbClr val="FCEEA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08760" y="1947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Bookings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5603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trip decides the lifetime — 89% re-book on the same channel.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the only growth Wayzyy can afford.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75320" y="1691640"/>
            <a:ext cx="327355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50392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107424" y="2016252"/>
            <a:ext cx="1569110" cy="137160"/>
          </a:xfrm>
          <a:prstGeom prst="roundRect">
            <a:avLst>
              <a:gd name="adj" fmla="val 26667"/>
            </a:avLst>
          </a:prstGeom>
          <a:solidFill>
            <a:srgbClr val="FCEEA7"/>
          </a:solidFill>
          <a:ln w="12700">
            <a:solidFill>
              <a:srgbClr val="FCEEA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0" y="1947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Upsell In-Thread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5603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and transport booked inside the chat.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Wayzyy never sees today.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327355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🛟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472184" y="4439412"/>
            <a:ext cx="1095908" cy="137160"/>
          </a:xfrm>
          <a:prstGeom prst="roundRect">
            <a:avLst>
              <a:gd name="adj" fmla="val 26667"/>
            </a:avLst>
          </a:prstGeom>
          <a:solidFill>
            <a:srgbClr val="FCEEA7"/>
          </a:solidFill>
          <a:ln w="12700">
            <a:solidFill>
              <a:srgbClr val="FCEEA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0876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Relief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4983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questions answered without waking the host.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raises host retention.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75320" y="4114800"/>
            <a:ext cx="327355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503920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107424" y="4439412"/>
            <a:ext cx="1474470" cy="137160"/>
          </a:xfrm>
          <a:prstGeom prst="roundRect">
            <a:avLst>
              <a:gd name="adj" fmla="val 26667"/>
            </a:avLst>
          </a:prstGeom>
          <a:solidFill>
            <a:srgbClr val="FCEEA7"/>
          </a:solidFill>
          <a:ln w="12700">
            <a:solidFill>
              <a:srgbClr val="FCEEA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0" y="4370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Defence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503920" y="4983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in-trip relationship — the moment leakage happens.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cannot copy this; commission is their business.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149840" y="274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wayzyy</a:t>
            </a:r>
            <a:pPr algn="r" indent="0" marL="0">
              <a:buNone/>
            </a:pPr>
            <a:r>
              <a:rPr lang="en-US" sz="1900" b="1" dirty="0">
                <a:solidFill>
                  <a:srgbClr val="FBC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621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60" kern="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TRACK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Sarathi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In-trip intelligence that turns a one-time Wayzyy guest into a repeat 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77640" y="932688"/>
            <a:ext cx="1554480" cy="3785616"/>
          </a:xfrm>
          <a:prstGeom prst="rect">
            <a:avLst/>
          </a:prstGeom>
          <a:solidFill>
            <a:srgbClr val="C5CD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96512" y="102412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Partners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096512" y="1444752"/>
            <a:ext cx="131673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Wayzyy (bookings, hosts, guests)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WhatsApp Cloud API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/ weather data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Goa venues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532120" y="932688"/>
            <a:ext cx="1554480" cy="2212848"/>
          </a:xfrm>
          <a:prstGeom prst="rect">
            <a:avLst/>
          </a:prstGeom>
          <a:solidFill>
            <a:srgbClr val="EDED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50992" y="102412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50992" y="1444752"/>
            <a:ext cx="131673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agent loop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trigger evaluation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 knowledge-base curation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rewriting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086600" y="932688"/>
            <a:ext cx="3108960" cy="2212848"/>
          </a:xfrm>
          <a:prstGeom prst="rect">
            <a:avLst/>
          </a:prstGeom>
          <a:solidFill>
            <a:srgbClr val="FBC63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05472" y="1024128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05472" y="1444752"/>
            <a:ext cx="287121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concierge that acts before you ask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— never invented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app install: it lives on WhatsApp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stop answering the same questions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95560" y="932688"/>
            <a:ext cx="1554480" cy="2212848"/>
          </a:xfrm>
          <a:prstGeom prst="rect">
            <a:avLst/>
          </a:prstGeom>
          <a:solidFill>
            <a:srgbClr val="FFF0C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314432" y="102412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314432" y="1444752"/>
            <a:ext cx="131673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Wayzyy guests mid-stay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Wayzyy hosts (fewer messages)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Wayzyy itself (retention)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32120" y="3145536"/>
            <a:ext cx="1554480" cy="1572768"/>
          </a:xfrm>
          <a:prstGeom prst="rect">
            <a:avLst/>
          </a:prstGeom>
          <a:solidFill>
            <a:srgbClr val="BFE6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50992" y="3236976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Relationships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50992" y="3657600"/>
            <a:ext cx="13167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Always-on, in-thread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not reactive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identity across the trip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86600" y="3145536"/>
            <a:ext cx="1554480" cy="1572768"/>
          </a:xfrm>
          <a:prstGeom prst="rect">
            <a:avLst/>
          </a:prstGeom>
          <a:solidFill>
            <a:srgbClr val="EDED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05472" y="3236976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3657600"/>
            <a:ext cx="13167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(React Native)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handover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641080" y="3145536"/>
            <a:ext cx="3108960" cy="1572768"/>
          </a:xfrm>
          <a:prstGeom prst="rect">
            <a:avLst/>
          </a:prstGeom>
          <a:solidFill>
            <a:srgbClr val="FFF0C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59952" y="3236976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759952" y="3657600"/>
            <a:ext cx="28712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tokens (~40 short calls/trip)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template messages ~₹0.69/trip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curation per city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77640" y="4718304"/>
            <a:ext cx="4663440" cy="1298448"/>
          </a:xfrm>
          <a:prstGeom prst="rect">
            <a:avLst/>
          </a:prstGeom>
          <a:solidFill>
            <a:srgbClr val="C6E5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096512" y="4809744"/>
            <a:ext cx="4425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Resources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096512" y="5230368"/>
            <a:ext cx="4425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Goa knowledge base (14 places, tagged)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7-tool agent surface + idempotent scheduler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Wayzyy booking + host graph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641080" y="4718304"/>
            <a:ext cx="3108960" cy="1298448"/>
          </a:xfrm>
          <a:prstGeom prst="rect">
            <a:avLst/>
          </a:prstGeom>
          <a:solidFill>
            <a:srgbClr val="F5C2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59952" y="480974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759952" y="5230368"/>
            <a:ext cx="2871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credit-pack recharge (Wayzyy's only revenue event)</a:t>
            </a:r>
            <a:endParaRPr lang="en-US" sz="850" dirty="0"/>
          </a:p>
          <a:p>
            <a:pPr marL="342900" indent="-342900">
              <a:lnSpc>
                <a:spcPts val="11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In-trip upsell: activities, transport, extra nights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149840" y="274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wayzyy</a:t>
            </a:r>
            <a:pPr algn="r" indent="0" marL="0">
              <a:buNone/>
            </a:pPr>
            <a:r>
              <a:rPr lang="en-US" sz="1900" b="1" dirty="0">
                <a:solidFill>
                  <a:srgbClr val="FBC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621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60" kern="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TRACK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1663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06424" y="2057400"/>
            <a:ext cx="1695298" cy="182880"/>
          </a:xfrm>
          <a:prstGeom prst="roundRect">
            <a:avLst>
              <a:gd name="adj" fmla="val 20000"/>
            </a:avLst>
          </a:prstGeom>
          <a:solidFill>
            <a:srgbClr val="FCEEA7"/>
          </a:solidFill>
          <a:ln w="12700">
            <a:solidFill>
              <a:srgbClr val="FCEEA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965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Delivery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257800" y="194767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CEEA7"/>
          </a:solidFill>
          <a:ln w="12700">
            <a:solidFill>
              <a:srgbClr val="FCEE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578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3288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webhook, templates, 24h session window.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in-app surface, matching Wayzyy's stack.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1663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92824" y="2057400"/>
            <a:ext cx="1695298" cy="182880"/>
          </a:xfrm>
          <a:prstGeom prst="roundRect">
            <a:avLst>
              <a:gd name="adj" fmla="val 20000"/>
            </a:avLst>
          </a:prstGeom>
          <a:solidFill>
            <a:srgbClr val="FCEEA7"/>
          </a:solidFill>
          <a:ln w="12700">
            <a:solidFill>
              <a:srgbClr val="FCEEA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965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Memory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744200" y="194767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CEEA7"/>
          </a:solidFill>
          <a:ln w="12700">
            <a:solidFill>
              <a:srgbClr val="FCEEA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442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53288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profile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carried across stays, not just this trip.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vectors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reused from our TravelBuddy engine.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794760"/>
            <a:ext cx="51663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06424" y="4160520"/>
            <a:ext cx="1442923" cy="182880"/>
          </a:xfrm>
          <a:prstGeom prst="roundRect">
            <a:avLst>
              <a:gd name="adj" fmla="val 20000"/>
            </a:avLst>
          </a:prstGeom>
          <a:solidFill>
            <a:srgbClr val="FCEEA7"/>
          </a:solidFill>
          <a:ln w="12700">
            <a:solidFill>
              <a:srgbClr val="FCEEA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4069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Cities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257800" y="40507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CEEA7"/>
          </a:solidFill>
          <a:ln w="12700">
            <a:solidFill>
              <a:srgbClr val="FCEEA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5780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63600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 per city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KB is the only Goa-specific layer.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Host-sourced updates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plus scheduled re-validation.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3794760"/>
            <a:ext cx="516636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92824" y="4160520"/>
            <a:ext cx="1442923" cy="182880"/>
          </a:xfrm>
          <a:prstGeom prst="roundRect">
            <a:avLst>
              <a:gd name="adj" fmla="val 20000"/>
            </a:avLst>
          </a:prstGeom>
          <a:solidFill>
            <a:srgbClr val="FCEEA7"/>
          </a:solidFill>
          <a:ln w="12700">
            <a:solidFill>
              <a:srgbClr val="FCEEA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4069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Layer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744200" y="40507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CEEA7"/>
          </a:solidFill>
          <a:ln w="12700">
            <a:solidFill>
              <a:srgbClr val="FCEEA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74420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463600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moderation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contact-evasion and scam detection.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gap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Wayzyy published in their own dev challenge.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149840" y="274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wayzyy</a:t>
            </a:r>
            <a:pPr algn="r" indent="0" marL="0">
              <a:buNone/>
            </a:pPr>
            <a:r>
              <a:rPr lang="en-US" sz="1900" b="1" dirty="0">
                <a:solidFill>
                  <a:srgbClr val="FBC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621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60" kern="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TRACK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Sarathi Ecosystem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Engine (Speed &amp; Scale)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 (External Services)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4937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95144" y="2171700"/>
            <a:ext cx="1095908" cy="137160"/>
          </a:xfrm>
          <a:prstGeom prst="roundRect">
            <a:avLst>
              <a:gd name="adj" fmla="val 26667"/>
            </a:avLst>
          </a:prstGeom>
          <a:solidFill>
            <a:srgbClr val="FCEEA7"/>
          </a:solidFill>
          <a:ln w="12700">
            <a:solidFill>
              <a:srgbClr val="FCEE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3172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Layer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578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 ·  Express  ·  7-tool surface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971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loop, retry + backoff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3611880"/>
            <a:ext cx="0" cy="365760"/>
          </a:xfrm>
          <a:prstGeom prst="line">
            <a:avLst/>
          </a:prstGeom>
          <a:noFill/>
          <a:ln w="25400">
            <a:solidFill>
              <a:srgbClr val="FBC63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" y="4023360"/>
            <a:ext cx="4937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12264" y="4274820"/>
            <a:ext cx="1663751" cy="137160"/>
          </a:xfrm>
          <a:prstGeom prst="roundRect">
            <a:avLst>
              <a:gd name="adj" fmla="val 26667"/>
            </a:avLst>
          </a:prstGeom>
          <a:solidFill>
            <a:srgbClr val="FCEEA7"/>
          </a:solidFill>
          <a:ln w="12700">
            <a:solidFill>
              <a:srgbClr val="FCEEA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4884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Scheduling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6817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 KB (JSON)  ·  node-cron  ·  MongoDB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074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send log, trigger evaluation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192024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2139696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FBC638"/>
          </a:solidFill>
          <a:ln w="12700">
            <a:solidFill>
              <a:srgbClr val="FBC6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12280" y="21396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2194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2523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tool selection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 flipV="1">
            <a:off x="5760720" y="2468880"/>
            <a:ext cx="822960" cy="274320"/>
          </a:xfrm>
          <a:prstGeom prst="line">
            <a:avLst/>
          </a:prstGeom>
          <a:noFill/>
          <a:ln w="25400">
            <a:solidFill>
              <a:srgbClr val="FBC6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3218688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12280" y="3438144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FBC638"/>
          </a:solidFill>
          <a:ln w="12700">
            <a:solidFill>
              <a:srgbClr val="FBC6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12280" y="34381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635240" y="3493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Cloud API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— free 24h window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760720" y="2743200"/>
            <a:ext cx="822960" cy="1024128"/>
          </a:xfrm>
          <a:prstGeom prst="line">
            <a:avLst/>
          </a:prstGeom>
          <a:noFill/>
          <a:ln w="25400">
            <a:solidFill>
              <a:srgbClr val="FBC6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4517136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2E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12280" y="473659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FBC638"/>
          </a:solidFill>
          <a:ln w="12700">
            <a:solidFill>
              <a:srgbClr val="FBC63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12280" y="4736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4791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 / Weather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6352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proactive trigger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760720" y="2743200"/>
            <a:ext cx="822960" cy="2322576"/>
          </a:xfrm>
          <a:prstGeom prst="line">
            <a:avLst/>
          </a:prstGeom>
          <a:noFill/>
          <a:ln w="25400">
            <a:solidFill>
              <a:srgbClr val="FBC63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TOOL-CALLING AGENT &amp; GROUNDING ARCHITECTURE.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92840" cy="2331720"/>
          </a:xfrm>
          <a:prstGeom prst="rect">
            <a:avLst/>
          </a:prstGeom>
          <a:solidFill>
            <a:srgbClr val="F2F2F6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11292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Reasoning Loop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3493008" cy="1737360"/>
          </a:xfrm>
          <a:prstGeom prst="rect">
            <a:avLst/>
          </a:prstGeom>
          <a:solidFill>
            <a:srgbClr val="C9D7F0"/>
          </a:solidFill>
          <a:ln w="12700">
            <a:solidFill>
              <a:srgbClr val="B9B9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6304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1810512"/>
            <a:ext cx="316382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188366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guestMessage  ∪  schedulerTrigger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bookingContext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316382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" y="25786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get_booking_context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51376" y="2240280"/>
            <a:ext cx="210312" cy="0"/>
          </a:xfrm>
          <a:prstGeom prst="line">
            <a:avLst/>
          </a:prstGeom>
          <a:noFill/>
          <a:ln w="2540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61688" y="1371600"/>
            <a:ext cx="3493008" cy="1737360"/>
          </a:xfrm>
          <a:prstGeom prst="rect">
            <a:avLst/>
          </a:prstGeom>
          <a:solidFill>
            <a:srgbClr val="CFE7CC"/>
          </a:solidFill>
          <a:ln w="12700">
            <a:solidFill>
              <a:srgbClr val="B9B9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61688" y="146304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26280" y="1810512"/>
            <a:ext cx="316382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81144" y="188366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selects tool tᵢ ∈ T, |T| = 7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args ← schema(tᵢ)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2468880"/>
            <a:ext cx="316382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81144" y="25786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get_weather · find_nearby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54696" y="2240280"/>
            <a:ext cx="210312" cy="0"/>
          </a:xfrm>
          <a:prstGeom prst="line">
            <a:avLst/>
          </a:prstGeom>
          <a:noFill/>
          <a:ln w="2540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65008" y="1371600"/>
            <a:ext cx="3493008" cy="1737360"/>
          </a:xfrm>
          <a:prstGeom prst="rect">
            <a:avLst/>
          </a:prstGeom>
          <a:solidFill>
            <a:srgbClr val="E0D3EE"/>
          </a:solidFill>
          <a:ln w="12700">
            <a:solidFill>
              <a:srgbClr val="B9B9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65008" y="146304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1810512"/>
            <a:ext cx="316382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84464" y="188366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execute(tᵢ, args) → result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appended to 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0" y="2468880"/>
            <a:ext cx="316382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84464" y="25786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reschedule_day · notify_host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118104"/>
            <a:ext cx="11292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no tool call  ·  max 8 rounds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6858000" cy="2011680"/>
          </a:xfrm>
          <a:prstGeom prst="rect">
            <a:avLst/>
          </a:prstGeom>
          <a:solidFill>
            <a:srgbClr val="FFF3CF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520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— the model composes, it never invents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85800" y="3886200"/>
            <a:ext cx="3108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9684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26110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= max(0, 1 − d / 30)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1 − band / 4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0.75·proximity + 0.25·value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77640" y="3886200"/>
            <a:ext cx="3108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77640" y="39684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069080" y="426110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area · monsoon_safe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max_price_band · open_at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14-place tagged Goa dataset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498080" y="3429000"/>
            <a:ext cx="4251960" cy="2011680"/>
          </a:xfrm>
          <a:prstGeom prst="rect">
            <a:avLst/>
          </a:prstGeom>
          <a:solidFill>
            <a:srgbClr val="E6E0F4"/>
          </a:solidFill>
          <a:ln w="12700">
            <a:solidFill>
              <a:srgbClr val="B9A9D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0" y="35204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Scheduler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726680" y="3886200"/>
            <a:ext cx="3794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18120" y="38862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pre_checkin — T−24h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26680" y="4361688"/>
            <a:ext cx="3794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18120" y="43616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weather_reroute — advisory ∧ ¬safe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26680" y="4837176"/>
            <a:ext cx="3794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18120" y="483717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checkout_prep — checkout day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86200" y="3246120"/>
            <a:ext cx="0" cy="182880"/>
          </a:xfrm>
          <a:prstGeom prst="line">
            <a:avLst/>
          </a:prstGeom>
          <a:noFill/>
          <a:ln w="2540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9601200" y="3246120"/>
            <a:ext cx="0" cy="182880"/>
          </a:xfrm>
          <a:prstGeom prst="line">
            <a:avLst/>
          </a:prstGeom>
          <a:noFill/>
          <a:ln w="2540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457200" y="5669280"/>
            <a:ext cx="11292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venue, price and distance in a reply traces to a tool result. No tool result → no claim.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149840" y="274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wayzyy</a:t>
            </a:r>
            <a:pPr algn="r" indent="0" marL="0">
              <a:buNone/>
            </a:pPr>
            <a:r>
              <a:rPr lang="en-US" sz="1900" b="1" dirty="0">
                <a:solidFill>
                  <a:srgbClr val="FBC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621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60" kern="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TRACK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Level Architecture Overview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017520" y="1325880"/>
            <a:ext cx="6126480" cy="914400"/>
          </a:xfrm>
          <a:prstGeom prst="rect">
            <a:avLst/>
          </a:prstGeom>
          <a:solidFill>
            <a:srgbClr val="FAFAFD"/>
          </a:solidFill>
          <a:ln w="12700">
            <a:solidFill>
              <a:srgbClr val="D6D6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7520" y="14173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77640" y="1627632"/>
            <a:ext cx="219456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5A5A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50792" y="173736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thread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50792" y="1993392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⇄ Sarathi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1627632"/>
            <a:ext cx="219456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5A5A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3952" y="173736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(React Native)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993392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Wayzyy's own stack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2697480"/>
            <a:ext cx="8503920" cy="1417320"/>
          </a:xfrm>
          <a:prstGeom prst="rect">
            <a:avLst/>
          </a:prstGeom>
          <a:solidFill>
            <a:srgbClr val="FAFAFD"/>
          </a:solidFill>
          <a:ln w="12700">
            <a:solidFill>
              <a:srgbClr val="D6D6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0" y="27889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  (Node.js)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94560" y="3017520"/>
            <a:ext cx="192024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5A5A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67712" y="312724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/ API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267712" y="33832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· routes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3017520"/>
            <a:ext cx="192024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5A5A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62272" y="312724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62272" y="33832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agent.js · 8 rounds max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3017520"/>
            <a:ext cx="192024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5A5A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56832" y="312724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656832" y="33832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tools.js · 7 tools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778240" y="3017520"/>
            <a:ext cx="12801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5A5A7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51392" y="312724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851392" y="338328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· triggers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4572000"/>
            <a:ext cx="4754880" cy="1280160"/>
          </a:xfrm>
          <a:prstGeom prst="rect">
            <a:avLst/>
          </a:prstGeom>
          <a:solidFill>
            <a:srgbClr val="FAFAFD"/>
          </a:solidFill>
          <a:ln w="12700">
            <a:solidFill>
              <a:srgbClr val="D6D6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663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0120" y="4892040"/>
            <a:ext cx="201168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5A5A7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3272" y="500176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 KB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33272" y="52578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kb/goa.json · tagged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4892040"/>
            <a:ext cx="192024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5A5A7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73552" y="500176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273552" y="52578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· send log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4572000"/>
            <a:ext cx="5577840" cy="1280160"/>
          </a:xfrm>
          <a:prstGeom prst="rect">
            <a:avLst/>
          </a:prstGeom>
          <a:solidFill>
            <a:srgbClr val="FAFAFD"/>
          </a:solidFill>
          <a:ln w="12700">
            <a:solidFill>
              <a:srgbClr val="D6D6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0" y="4663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4892040"/>
            <a:ext cx="16459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5A5A7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36792" y="5001768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336792" y="52578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92440" y="4892040"/>
            <a:ext cx="155448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5A5A7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65592" y="500176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165592" y="52578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829800" y="4892040"/>
            <a:ext cx="146304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5A5A7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902952" y="500176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902952" y="5257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74920" y="2157984"/>
            <a:ext cx="274320" cy="859536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0" y="2157984"/>
            <a:ext cx="45720" cy="859536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1965960" y="3886200"/>
            <a:ext cx="1188720" cy="100584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>
            <a:off x="4160520" y="3886200"/>
            <a:ext cx="1188720" cy="100584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>
            <a:off x="7086600" y="3886200"/>
            <a:ext cx="457200" cy="100584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43800" y="3886200"/>
            <a:ext cx="1325880" cy="100584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418320" y="3886200"/>
            <a:ext cx="1143000" cy="100584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120640" y="2331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JSON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149840" y="274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wayzyy</a:t>
            </a:r>
            <a:pPr algn="r" indent="0" marL="0">
              <a:buNone/>
            </a:pPr>
            <a:r>
              <a:rPr lang="en-US" sz="1900" b="1" dirty="0">
                <a:solidFill>
                  <a:srgbClr val="FBC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621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60" kern="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TRACK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 Flow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51560" y="1325880"/>
            <a:ext cx="182880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1709928"/>
            <a:ext cx="0" cy="4233672"/>
          </a:xfrm>
          <a:prstGeom prst="line">
            <a:avLst/>
          </a:prstGeom>
          <a:noFill/>
          <a:ln w="12700">
            <a:solidFill>
              <a:srgbClr val="C6C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325880"/>
            <a:ext cx="1828800" cy="384048"/>
          </a:xfrm>
          <a:prstGeom prst="rect">
            <a:avLst/>
          </a:prstGeom>
          <a:solidFill>
            <a:srgbClr val="FBE4C9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09928"/>
            <a:ext cx="0" cy="4233672"/>
          </a:xfrm>
          <a:prstGeom prst="line">
            <a:avLst/>
          </a:prstGeom>
          <a:noFill/>
          <a:ln w="12700">
            <a:solidFill>
              <a:srgbClr val="C6C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1325880"/>
            <a:ext cx="1828800" cy="384048"/>
          </a:xfrm>
          <a:prstGeom prst="rect">
            <a:avLst/>
          </a:prstGeom>
          <a:solidFill>
            <a:srgbClr val="D3EBD0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06440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layer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709928"/>
            <a:ext cx="0" cy="4233672"/>
          </a:xfrm>
          <a:prstGeom prst="line">
            <a:avLst/>
          </a:prstGeom>
          <a:noFill/>
          <a:ln w="12700">
            <a:solidFill>
              <a:srgbClr val="C6C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325880"/>
            <a:ext cx="1828800" cy="384048"/>
          </a:xfrm>
          <a:prstGeom prst="rect">
            <a:avLst/>
          </a:prstGeom>
          <a:solidFill>
            <a:srgbClr val="E2DCF2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 KB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1709928"/>
            <a:ext cx="0" cy="4233672"/>
          </a:xfrm>
          <a:prstGeom prst="line">
            <a:avLst/>
          </a:prstGeom>
          <a:noFill/>
          <a:ln w="12700">
            <a:solidFill>
              <a:srgbClr val="C6C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87000" y="1325880"/>
            <a:ext cx="1828800" cy="384048"/>
          </a:xfrm>
          <a:prstGeom prst="rect">
            <a:avLst/>
          </a:prstGeom>
          <a:solidFill>
            <a:srgbClr val="F7D6DC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287000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201400" y="1709928"/>
            <a:ext cx="0" cy="4233672"/>
          </a:xfrm>
          <a:prstGeom prst="line">
            <a:avLst/>
          </a:prstGeom>
          <a:noFill/>
          <a:ln w="12700">
            <a:solidFill>
              <a:srgbClr val="C6C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5960" y="1965960"/>
            <a:ext cx="2377440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965960" y="17282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should we eat tonight?"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43400" y="2395728"/>
            <a:ext cx="2377440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343400" y="21579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get_booking_context()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 flipH="1">
            <a:off x="4343400" y="2788920"/>
            <a:ext cx="2377440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343400" y="2551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Amarela · Assagao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43400" y="3200400"/>
            <a:ext cx="2377440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343400" y="29626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get_weather(2026-09-15)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H="1">
            <a:off x="4343400" y="3593592"/>
            <a:ext cx="2377440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343400" y="33558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84mm · IMD ORANGE alert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60520" y="3840480"/>
            <a:ext cx="3291840" cy="292608"/>
          </a:xfrm>
          <a:prstGeom prst="rect">
            <a:avLst/>
          </a:prstGeom>
          <a:solidFill>
            <a:srgbClr val="FFF3CF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33672" y="384048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present → monsoon_safe: true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343400" y="4526280"/>
            <a:ext cx="2377440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343400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find_nearby(restaurant, monsoon_safe)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4919472"/>
            <a:ext cx="2377440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6720840" y="46817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rank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 flipH="1">
            <a:off x="4343400" y="5303520"/>
            <a:ext cx="4754880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dash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4343400" y="50657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venues · score 0.885 / 0.853 / 0.840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43400" y="5715000"/>
            <a:ext cx="6858000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4343400" y="547725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reply from tool results only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Reply: “Gunpowder is your best bet — under a km away, indoors, open till 22:30.”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149840" y="274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wayzyy</a:t>
            </a:r>
            <a:pPr algn="r" indent="0" marL="0">
              <a:buNone/>
            </a:pPr>
            <a:r>
              <a:rPr lang="en-US" sz="1900" b="1" dirty="0">
                <a:solidFill>
                  <a:srgbClr val="FBC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0149840" y="621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160" kern="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TRACK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“Nobody Asked” Architecture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1280160"/>
            <a:ext cx="1783080" cy="384048"/>
          </a:xfrm>
          <a:prstGeom prst="rect">
            <a:avLst/>
          </a:prstGeom>
          <a:solidFill>
            <a:srgbClr val="EDEDF2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280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tick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60220" y="1664208"/>
            <a:ext cx="0" cy="4370832"/>
          </a:xfrm>
          <a:prstGeom prst="line">
            <a:avLst/>
          </a:prstGeom>
          <a:noFill/>
          <a:ln w="12700">
            <a:solidFill>
              <a:srgbClr val="C6C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54680" y="1280160"/>
            <a:ext cx="1783080" cy="384048"/>
          </a:xfrm>
          <a:prstGeom prst="rect">
            <a:avLst/>
          </a:prstGeom>
          <a:solidFill>
            <a:srgbClr val="FBE4C9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1280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eval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46220" y="1664208"/>
            <a:ext cx="0" cy="4370832"/>
          </a:xfrm>
          <a:prstGeom prst="line">
            <a:avLst/>
          </a:prstGeom>
          <a:noFill/>
          <a:ln w="12700">
            <a:solidFill>
              <a:srgbClr val="C6C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280160"/>
            <a:ext cx="1783080" cy="384048"/>
          </a:xfrm>
          <a:prstGeom prst="rect">
            <a:avLst/>
          </a:prstGeom>
          <a:solidFill>
            <a:srgbClr val="D3EBD0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40680" y="1280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32220" y="1664208"/>
            <a:ext cx="0" cy="4370832"/>
          </a:xfrm>
          <a:prstGeom prst="line">
            <a:avLst/>
          </a:prstGeom>
          <a:noFill/>
          <a:ln w="12700">
            <a:solidFill>
              <a:srgbClr val="C6C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26680" y="1280160"/>
            <a:ext cx="1783080" cy="384048"/>
          </a:xfrm>
          <a:prstGeom prst="rect">
            <a:avLst/>
          </a:prstGeom>
          <a:solidFill>
            <a:srgbClr val="E2DCF2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1280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18220" y="1664208"/>
            <a:ext cx="0" cy="4370832"/>
          </a:xfrm>
          <a:prstGeom prst="line">
            <a:avLst/>
          </a:prstGeom>
          <a:noFill/>
          <a:ln w="12700">
            <a:solidFill>
              <a:srgbClr val="C6C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12680" y="1280160"/>
            <a:ext cx="178308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9A9AA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12680" y="1280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04220" y="1664208"/>
            <a:ext cx="0" cy="4370832"/>
          </a:xfrm>
          <a:prstGeom prst="line">
            <a:avLst/>
          </a:prstGeom>
          <a:noFill/>
          <a:ln w="12700">
            <a:solidFill>
              <a:srgbClr val="C6C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60220" y="1920240"/>
            <a:ext cx="2286000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760220" y="1691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06:40 — tick(2026-09-15)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48840" y="2148840"/>
            <a:ext cx="384048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240280" y="2240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C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weather_reroute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240280" y="25237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≠ null  ∧  today.place.monsoon_safe = false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FIRE  (idempotent: key not in send log)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46220" y="3310128"/>
            <a:ext cx="2286000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046220" y="3081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agent — no guest input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41948" y="3657600"/>
            <a:ext cx="2926080" cy="310896"/>
          </a:xfrm>
          <a:prstGeom prst="rect">
            <a:avLst/>
          </a:prstGeom>
          <a:solidFill>
            <a:srgbClr val="EFF3EC"/>
          </a:solidFill>
          <a:ln w="12700">
            <a:solidFill>
              <a:srgbClr val="8FAE8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15100" y="3657600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1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find_nearby(activity, monsoon_safe: true)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32220" y="3813048"/>
            <a:ext cx="109728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1948" y="4041648"/>
            <a:ext cx="2926080" cy="310896"/>
          </a:xfrm>
          <a:prstGeom prst="rect">
            <a:avLst/>
          </a:prstGeom>
          <a:solidFill>
            <a:srgbClr val="EFF3EC"/>
          </a:solidFill>
          <a:ln w="12700">
            <a:solidFill>
              <a:srgbClr val="8FAE8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15100" y="4041648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1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reschedule_day(1 → 3, gp-006)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32220" y="4197096"/>
            <a:ext cx="109728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4279392"/>
            <a:ext cx="3566160" cy="310896"/>
          </a:xfrm>
          <a:prstGeom prst="rect">
            <a:avLst/>
          </a:prstGeom>
          <a:solidFill>
            <a:srgbClr val="FFF3CF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63440" y="42793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applied — terminal, never retried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32220" y="4892040"/>
            <a:ext cx="2286000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6332220" y="4663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notify_host(scooter +1 day)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 flipH="1">
            <a:off x="6332220" y="5285232"/>
            <a:ext cx="2286000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dash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6332220" y="5056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32220" y="5669280"/>
            <a:ext cx="4572000" cy="0"/>
          </a:xfrm>
          <a:prstGeom prst="line">
            <a:avLst/>
          </a:prstGeom>
          <a:noFill/>
          <a:ln w="1524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6332220" y="5440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message: what changed, and why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Elapsed: 0 guest actions.  The plan, the host and the guest are all already updated.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Sarathi</dc:title>
  <dc:subject>PptxGenJS Presentation</dc:subject>
  <dc:creator>Team 404</dc:creator>
  <cp:lastModifiedBy>Team 404</cp:lastModifiedBy>
  <cp:revision>1</cp:revision>
  <dcterms:created xsi:type="dcterms:W3CDTF">2026-09-12T16:53:56Z</dcterms:created>
  <dcterms:modified xsi:type="dcterms:W3CDTF">2026-09-12T16:53:56Z</dcterms:modified>
</cp:coreProperties>
</file>